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Opener. 'By the end of this, you'll have seen a business run itself — leads qualifying themselves, clients onboarding in one click, and automations we build live on stage.'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 — ~20 seconds. The demos are the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the idea: you didn't lack a system before — it lived on paper, whiteboards, and your phone. Automation isn't a brand-new system; it's the same processes with better tooling, maturing from Crawl to Fly. Point at the columns: paper/manual, to basic digital, to connected systems (the Notion build we demo today), to AI/autonomous — and beyond.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Crawl = no automation at all. Just email and a spreadsheet, and for a while that's genuinely enough. The catalyst to move on: you simply outgrow what those two tools can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= tools start defining your process, but you're still manually moving data between systems. You've got templates for onboarding and invoices, yet most of it is hand-done. The catalyst: you drop an important ball.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Jog = reaching for low-hanging fruit: Calendly embedded in onboarding emails, leaning on the CRM and more mature tools. It works, but it's loose and stitched together. The catalyst: a failure in that loose system forces you to harden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= real tooling supporting the whole Biz OS, plus automation now doing the routine work — lead capture, onboarding, follow-ups. This is exactly what today's talk teaches you to build. The catalyst to Fly: tightly couple it all and add reporting and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 = the automations from Run, now tightly coupled into one system, with reporting for visibility and guardrails that prevent silent failures. The business runs as one — and surfaces problems instead of hiding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We go in lifecycle order: a lead qualifies itself, a client onboards in one click, then offboards in one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1 — AI LEAD QUALIFICATION
ON-SCREEN ORDER (switch in this sequence):
1) Landing page — fill out the contact form:
   https://joshobrien77.github.io/AutomationKIT/
2) n8n execution — watch Claude score it:
   https://obrienretailservices.app.n8n.cloud/home/executions
3) Notion CRM, New Leads view — show the scored lead:
   https://app.notion.com/p/da223aa958fd45a8b76f9aae18c36de3
SAY: 'When someone fills out my site, normally I'd read it, research the company, and score it by hand. Watch AI do it live.'
DO: Fill the form — make the Bottleneck specific. Submit (instant success). Flip to n8n, narrate the run. Flip to CRM, open the new lead, read Claude's summary + score out loud.
PAYOFF: 'I never typed any of that — Claude scored them, estimated the deal, and wrote the summary before I finished talking.'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2 — CLIENT ONBOARDING
ON-SCREEN ORDER:
1) Notion CRM — add a client row (Name, Company, Email = your demo inbox), click the Onboard Client button:
   https://app.notion.com/p/da223aa958fd45a8b76f9aae18c36de3
2) n8n execution — watch the cascade:
   https://obrienretailservices.app.n8n.cloud/home/executions
3) Notion (Projects + Tasks) and your email inbox — show the results:
   https://app.notion.com/p/388c6115f2e08164bf62f9cd8b3cb4f9
SAY: 'Signing a client normally means an hour of setup. Watch one button do it.'
DO: Click Onboard Client. Flip to n8n (green cascade). Flip to Notion: status → Client, a new linked project, two tasks; then show the welcome email in your inbox.
PAYOFF: 'Three seconds: CRM updated, project live, client emailed, tasks queued — nothing manual.'
SETUP: set the new row's Email to an inbox you can show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3 — CLIENT OFFBOARDING
ON-SCREEN ORDER:
1) Notion CRM — on a current client (e.g. Diana Rosales / Summit), click the Offboard Client button:
   https://app.notion.com/p/da223aa958fd45a8b76f9aae18c36de3
2) n8n execution — watch it run:
   https://obrienretailservices.app.n8n.cloud/home/executions
3) Notion — show Alumni status, project Complete + Offboarded, and the closeout tasks:
   https://app.notion.com/p/388c6115f2e08164bf62f9cd8b3cb4f9
SAY: 'And when an engagement wraps, one button closes the loop.'
DO: Click Offboard Client. Flip to n8n. Flip to Notion: client → Alumni, project → Complete (Offboarded checked), testimonial + archive tasks created, wrap-up email sent.
PAYOFF: 'Onboarding, qualifying, offboarding — the whole lifecycle runs itself.'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DEMO (run only if time allows) — BUILD A DISCORD AUTOMATION FROM SCRATCH (n8n)
A 3-node workflow: every 30s, pull a live API, post to Discord. No OAuth — demo-proof.
BEFORE STAGE — create the Discord webhook (once):
- Discord channel (#n8n-demo) → gear (Edit Channel) → Integrations → Webhooks → New Webhook → name it → Copy Webhook URL → Save Changes.
- PASTE YOUR WEBHOOK URL HERE: ______________________________
  (Treat it like a password — anyone with it can post to your channel.)
BUILD LIVE  (n8n → https://obrienretailservices.app.n8n.cloud/home/workflows):
Node 1 — Schedule Trigger: interval = Seconds → every 30.
Node 2 — HTTP Request (GET): URL https://icanhazdadjoke.com/ , Header  Accept: application/json. Execute step → a joke appears ('the data just showed up').
Node 3 — HTTP Request (POST): URL = your webhook. Send Body ON → JSON:
   { "content": "Auto-posted by n8n: {{ $json.joke }}" }
   Execute step → the message lands in Discord.
   If $json.joke is empty, use {{ $('HTTP Request').item.json.joke }} (that node's exact name).
PAYOFF: flip the workflow to Active, step back — 'I'm not touching anything.' A new joke posts every 30s, hands-free.
MIC-DROP (optional): drop an Edit Fields (Set) or AI Agent node between Node 2 and Node 3 to reformat the message, re-run — shows how easily it extends.
API SWAP-INS: Vegas weather → https://wttr.in/Las%20Vegas?format=3  ({{ $json.data }}) ; Hacker News top stories.
CHECKLIST: webhook ready; run end-to-end twice on venue wifi; Discord open on a 2nd screen; pin one success as a fallback; set the 30s interval ONLY right before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leave up during Q&amp;A so people can scan. The QR points to the live landing page, which is Demo 1's lead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oshobrien77.github.io/AutomationKIT/" TargetMode="External"/><Relationship Id="rId6" Type="http://schemas.openxmlformats.org/officeDocument/2006/relationships/hyperlink" Target="https://obrienretailservices.app.n8n.cloud/home/executions" TargetMode="External"/><Relationship Id="rId9" Type="http://schemas.openxmlformats.org/officeDocument/2006/relationships/hyperlink" Target="https://app.notion.com/p/da223aa958fd45a8b76f9aae18c36de3" TargetMode="Externa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7" Type="http://schemas.openxmlformats.org/officeDocument/2006/relationships/image" Target="../media/image-11-5.png"/><Relationship Id="rId8" Type="http://schemas.openxmlformats.org/officeDocument/2006/relationships/image" Target="../media/image-11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notion.com/p/da223aa958fd45a8b76f9aae18c36de3" TargetMode="External"/><Relationship Id="rId6" Type="http://schemas.openxmlformats.org/officeDocument/2006/relationships/hyperlink" Target="https://obrienretailservices.app.n8n.cloud/home/executions" TargetMode="External"/><Relationship Id="rId9" Type="http://schemas.openxmlformats.org/officeDocument/2006/relationships/hyperlink" Target="https://app.notion.com/p/388c6115f2e08164bf62f9cd8b3cb4f9" TargetMode="Externa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7" Type="http://schemas.openxmlformats.org/officeDocument/2006/relationships/image" Target="../media/image-13-5.png"/><Relationship Id="rId8" Type="http://schemas.openxmlformats.org/officeDocument/2006/relationships/image" Target="../media/image-13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notion.com/p/da223aa958fd45a8b76f9aae18c36de3" TargetMode="External"/><Relationship Id="rId6" Type="http://schemas.openxmlformats.org/officeDocument/2006/relationships/hyperlink" Target="https://obrienretailservices.app.n8n.cloud/home/executions" TargetMode="External"/><Relationship Id="rId9" Type="http://schemas.openxmlformats.org/officeDocument/2006/relationships/hyperlink" Target="https://app.notion.com/p/388c6115f2e08164bf62f9cd8b3cb4f9" TargetMode="Externa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image" Target="../media/image-15-4.png"/><Relationship Id="rId7" Type="http://schemas.openxmlformats.org/officeDocument/2006/relationships/image" Target="../media/image-15-5.png"/><Relationship Id="rId8" Type="http://schemas.openxmlformats.org/officeDocument/2006/relationships/image" Target="../media/image-15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brienretailservices.app.n8n.cloud/home/workflows" TargetMode="External"/><Relationship Id="rId6" Type="http://schemas.openxmlformats.org/officeDocument/2006/relationships/hyperlink" Target="https://icanhazdadjoke.com/" TargetMode="External"/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image" Target="../media/image-16-4.png"/><Relationship Id="rId7" Type="http://schemas.openxmlformats.org/officeDocument/2006/relationships/image" Target="../media/image-16-5.png"/><Relationship Id="rId8" Type="http://schemas.openxmlformats.org/officeDocument/2006/relationships/image" Target="../media/image-16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JOSH O'BRIEN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89720" y="45720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9189720" y="4572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0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 VEGAS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812694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281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DIGITAL WORKFORCE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" y="27889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</a:t>
            </a:r>
            <a:pPr indent="0" marL="0">
              <a:buNone/>
            </a:pPr>
            <a:r>
              <a:rPr lang="en-US" sz="5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Automation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business that helps you run it — capture, qualify, onboard, offboard — with Notion, n8n, and Claude.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733702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SPEAKER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08792" cy="4754880"/>
          </a:xfrm>
          <a:prstGeom prst="roundRect">
            <a:avLst>
              <a:gd name="adj" fmla="val 2692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headsho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48840"/>
            <a:ext cx="2011680" cy="201168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2057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 O'Brien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57600" y="2743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of DevOps and Infrastructure  @  Tensorwave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0" y="329184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over 30 years of experience in engineering and IT leadership, Josh O'Brien is recognized for scaling complex infrastructure, building high-performing teams, and delivering operationally resilient platforms.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49501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9495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Operating System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run an operating system since day one — a paper ledger, a whiteboard schedule, an inbox, sticky notes, phone reminders. The processes never change; only the tooling matures, left to right, from Crawl to Fly and beyond.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30552"/>
                <a:gridCol w="2130552"/>
                <a:gridCol w="2130552"/>
                <a:gridCol w="213969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PROCESS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CRAWL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WALK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5E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1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FLY &amp; BEYOND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Money &amp; Books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ledger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Spreadsheet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Accounting 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bookkeeping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&amp; 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Whiteboard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calendar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system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scheduling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Contacts &amp; Comms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Rolodex / inbox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AI-scored CRM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&amp; How-To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 &amp; notes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notes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 library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knowledge bot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 &amp; Follow-ups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To-do pad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reminders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CD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database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that acts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2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504688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332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550468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processes, better tooling.   </a:t>
            </a:r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“Run” column is your foundation — today we automate the bridge from Run toward Fly.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28493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028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AUTOMATION CONTINUUM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45752" cy="0"/>
          </a:xfrm>
          <a:prstGeom prst="line">
            <a:avLst/>
          </a:prstGeom>
          <a:noFill/>
          <a:ln w="25400">
            <a:solidFill>
              <a:srgbClr val="1A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216152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3075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0176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4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07624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194560"/>
            <a:ext cx="1051560" cy="105156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6" y="2467966"/>
            <a:ext cx="504749" cy="50474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103120" y="2148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2103120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automation — and that's fine at first. You run the entire business on email and a spreadsheet.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4114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manual — it lives in your head, your inbox, and one spreadsheet.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4572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tools yet; email and a spreadsheet hold it all together.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4748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5029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automation.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028432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0D1829"/>
          </a:solidFill>
          <a:ln w="15875">
            <a:solidFill>
              <a:srgbClr val="FFD16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75320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— WALK →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27532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outgrow what email and a spreadsheet can handle.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28493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028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AUTOMATION CONTINUUM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45752" cy="0"/>
          </a:xfrm>
          <a:prstGeom prst="line">
            <a:avLst/>
          </a:prstGeom>
          <a:noFill/>
          <a:ln w="25400">
            <a:solidFill>
              <a:srgbClr val="1A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85032" y="1216152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0176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4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07624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194560"/>
            <a:ext cx="1051560" cy="105156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6" y="2467966"/>
            <a:ext cx="504749" cy="50474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103120" y="2148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2103120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start adopting tools to define your processes — but the work between them is still done by hand.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4114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begin to shape how you work — a CRM, invoicing, documents.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4572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manually import or copy-paste data between systems.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4748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5029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exist for onboarding and invoices, but most of it is still manual.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028432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0D1829"/>
          </a:solidFill>
          <a:ln w="15875">
            <a:solidFill>
              <a:srgbClr val="FFD16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75320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— JOG →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27532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miss something important — a dropped ball you can't afford.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28493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028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AUTOMATION CONTINUUM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45752" cy="0"/>
          </a:xfrm>
          <a:prstGeom prst="line">
            <a:avLst/>
          </a:prstGeom>
          <a:noFill/>
          <a:ln w="25400">
            <a:solidFill>
              <a:srgbClr val="1A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3075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34456" y="1216152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4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07624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194560"/>
            <a:ext cx="1051560" cy="105156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6" y="2467966"/>
            <a:ext cx="504749" cy="50474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103120" y="2148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2103120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grab the low-hanging fruit — the obvious tooling wins that plug the gaps and save you.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4114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links (Calendly) embedded right into your onboarding emails.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4572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CRM and more mature tools start carrying real weight.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4748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5029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— but it's a loose system, stitched together.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028432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0D1829"/>
          </a:solidFill>
          <a:ln w="15875">
            <a:solidFill>
              <a:srgbClr val="FFD16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75320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— RUN →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27532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in the loose, stitched-together system fails — now you have to harden it with real tooling.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28493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028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AUTOMATION CONTINUUM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45752" cy="0"/>
          </a:xfrm>
          <a:prstGeom prst="line">
            <a:avLst/>
          </a:prstGeom>
          <a:noFill/>
          <a:ln w="25400">
            <a:solidFill>
              <a:srgbClr val="1A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3075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0176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4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1216152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07624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194560"/>
            <a:ext cx="1051560" cy="105156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6" y="2467966"/>
            <a:ext cx="504749" cy="50474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103120" y="2148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2103120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tooling supports the whole business OS — and now automation does the routine work for you. This is what today's talk is all about.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4114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actively-used CRM, document repos, and well-documented processes.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4572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handles the routine — lead capture, onboarding, follow-ups.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4748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5029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systems, each doing its job for you.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028432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0D1829"/>
          </a:solidFill>
          <a:ln w="15875">
            <a:solidFill>
              <a:srgbClr val="FFD16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75320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— FLY →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27532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Tightly couple every automation, then add reporting and guardrails — so nothing fails silently.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28493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028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AUTOMATION CONTINUUM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45752" cy="0"/>
          </a:xfrm>
          <a:prstGeom prst="line">
            <a:avLst/>
          </a:prstGeom>
          <a:noFill/>
          <a:ln w="25400">
            <a:solidFill>
              <a:srgbClr val="1A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30752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0176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4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261872"/>
            <a:ext cx="219456" cy="219456"/>
          </a:xfrm>
          <a:prstGeom prst="ellipse">
            <a:avLst/>
          </a:prstGeom>
          <a:solidFill>
            <a:srgbClr val="080F1C"/>
          </a:solidFill>
          <a:ln w="19050">
            <a:solidFill>
              <a:srgbClr val="6B7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661904" y="1216152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194560"/>
            <a:ext cx="1051560" cy="105156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6" y="2467966"/>
            <a:ext cx="504749" cy="50474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103120" y="2148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2103120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automation is tightly coupled into one system — with reporting and guardrails that stop silent failures before they happen.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4114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and tools are tightly integrated, end to end.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4572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gives you live visibility into everything running.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4748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5029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catch and surface problems — no silent failures.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028432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0D1829"/>
          </a:solidFill>
          <a:ln w="15875">
            <a:solidFill>
              <a:srgbClr val="00C2A8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75320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PAYOFF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27532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tightly-coupled system that runs itself — and tells you the moment something needs you.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165299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21652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WE'LL BUILD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automations, one connected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client lifecycle — captured, qualified, onboarded, and offboarded — running on autopilot.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788920"/>
            <a:ext cx="914400" cy="91440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30266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26080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601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0120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scores and enriches every inbound lead the instant it arrives.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34256" y="24688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4296" y="2788920"/>
            <a:ext cx="914400" cy="914400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02666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0256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7B5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654296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654296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button turns a signed prospect into a fully set-up client.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28432" y="24688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8472" y="2788920"/>
            <a:ext cx="914400" cy="914400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55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302666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14432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348472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Offboard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348472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 — retire the client, capture the testimonial.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841602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841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Lead Qualification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inbound lead, read and ranked by AI the instant it arrives.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779776"/>
            <a:ext cx="603504" cy="603504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23" y="2936687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scoring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64208" y="29992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rates each lead 1–10 and sets priority — no manual triage.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82512" y="2468880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38544" y="2779776"/>
            <a:ext cx="603504" cy="603504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455" y="2936687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Auto-enrichment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406640" y="29992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Industry, buying intent, company size and deal range, from one form.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822192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133088"/>
            <a:ext cx="603504" cy="603504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428999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64208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Sales-ready summary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64208" y="43525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 summary and recommended next action for your follow-up.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82512" y="3822192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38544" y="4133088"/>
            <a:ext cx="603504" cy="603504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455" y="4289999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06640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 in your CRM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406640" y="43525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scored record appears in Notion in seconds, ready to action.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8756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4406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lead goes cold. No hour of research. The qualifying happens before you ever read it.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733702" cy="365760"/>
          </a:xfrm>
          <a:prstGeom prst="roundRect">
            <a:avLst>
              <a:gd name="adj" fmla="val 50000"/>
            </a:avLst>
          </a:prstGeom>
          <a:solidFill>
            <a:srgbClr val="EA4B71">
              <a:alpha val="12000"/>
            </a:srgbClr>
          </a:solidFill>
          <a:ln w="12700">
            <a:solidFill>
              <a:srgbClr val="EA4B71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lead score itself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 submission becomes a fully-scored CRM record in seconds.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9848" y="3447288"/>
            <a:ext cx="868680" cy="86868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05" y="3673145"/>
            <a:ext cx="416966" cy="416966"/>
          </a:xfrm>
          <a:prstGeom prst="rect">
            <a:avLst/>
          </a:prstGeom>
        </p:spPr>
      </p:pic>
      <p:sp>
        <p:nvSpPr>
          <p:cNvPr id="10" name="Text 7">
            <a:hlinkClick r:id="rId3" tooltip=""/>
          </p:cNvPr>
          <p:cNvSpPr/>
          <p:nvPr/>
        </p:nvSpPr>
        <p:spPr>
          <a:xfrm>
            <a:off x="1069848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Landing Page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69848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out the contact form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991356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714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6402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64024" y="3447288"/>
            <a:ext cx="868680" cy="868680"/>
          </a:xfrm>
          <a:prstGeom prst="ellipse">
            <a:avLst/>
          </a:prstGeom>
          <a:solidFill>
            <a:srgbClr val="EA4B71">
              <a:alpha val="18000"/>
            </a:srgbClr>
          </a:solidFill>
          <a:ln w="12700">
            <a:solidFill>
              <a:srgbClr val="EA4B71">
                <a:alpha val="5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881" y="3673145"/>
            <a:ext cx="416966" cy="416966"/>
          </a:xfrm>
          <a:prstGeom prst="rect">
            <a:avLst/>
          </a:prstGeom>
        </p:spPr>
      </p:pic>
      <p:sp>
        <p:nvSpPr>
          <p:cNvPr id="17" name="Text 12">
            <a:hlinkClick r:id="rId6" tooltip=""/>
          </p:cNvPr>
          <p:cNvSpPr/>
          <p:nvPr/>
        </p:nvSpPr>
        <p:spPr>
          <a:xfrm>
            <a:off x="4764024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 Execution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764024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scores it live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3991356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65592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45820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B5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458200" y="3447288"/>
            <a:ext cx="868680" cy="868680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057" y="3673145"/>
            <a:ext cx="416966" cy="416966"/>
          </a:xfrm>
          <a:prstGeom prst="rect">
            <a:avLst/>
          </a:prstGeom>
        </p:spPr>
      </p:pic>
      <p:sp>
        <p:nvSpPr>
          <p:cNvPr id="24" name="Text 17">
            <a:hlinkClick r:id="rId9" tooltip=""/>
          </p:cNvPr>
          <p:cNvSpPr/>
          <p:nvPr/>
        </p:nvSpPr>
        <p:spPr>
          <a:xfrm>
            <a:off x="8458200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 CRM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845820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lead appears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Open the linked screens in the speaker notes, in order, as you go.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841602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841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Onboarding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button turns a signed prospect into a fully set-up client.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779776"/>
            <a:ext cx="603504" cy="603504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23" y="2936687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the client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64208" y="29992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flips to Client and the start date is stamped automatically.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82512" y="2468880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38544" y="2779776"/>
            <a:ext cx="603504" cy="603504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455" y="2936687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up the project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406640" y="29992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linked project workspace is created and tied back to the client.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822192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133088"/>
            <a:ext cx="603504" cy="603504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5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428999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64208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them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64208" y="43525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warm, personalized welcome email goes out from your own mailbox.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82512" y="3822192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38544" y="4133088"/>
            <a:ext cx="603504" cy="603504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5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455" y="4289999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06640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the work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406640" y="43525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and requirements tasks are created with due dates.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8756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4406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hour of copy-paste setup, collapsed into one click and three seconds.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733702" cy="365760"/>
          </a:xfrm>
          <a:prstGeom prst="roundRect">
            <a:avLst>
              <a:gd name="adj" fmla="val 50000"/>
            </a:avLst>
          </a:prstGeom>
          <a:solidFill>
            <a:srgbClr val="EA4B71">
              <a:alpha val="12000"/>
            </a:srgbClr>
          </a:solidFill>
          <a:ln w="12700">
            <a:solidFill>
              <a:srgbClr val="EA4B71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a whole client set up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client, press a button, and the onboarding cascade fires.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9848" y="3447288"/>
            <a:ext cx="868680" cy="86868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05" y="3673145"/>
            <a:ext cx="416966" cy="416966"/>
          </a:xfrm>
          <a:prstGeom prst="rect">
            <a:avLst/>
          </a:prstGeom>
        </p:spPr>
      </p:pic>
      <p:sp>
        <p:nvSpPr>
          <p:cNvPr id="10" name="Text 7">
            <a:hlinkClick r:id="rId3" tooltip=""/>
          </p:cNvPr>
          <p:cNvSpPr/>
          <p:nvPr/>
        </p:nvSpPr>
        <p:spPr>
          <a:xfrm>
            <a:off x="1069848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 CRM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69848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client → Onboard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991356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714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6402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64024" y="3447288"/>
            <a:ext cx="868680" cy="868680"/>
          </a:xfrm>
          <a:prstGeom prst="ellipse">
            <a:avLst/>
          </a:prstGeom>
          <a:solidFill>
            <a:srgbClr val="EA4B71">
              <a:alpha val="18000"/>
            </a:srgbClr>
          </a:solidFill>
          <a:ln w="12700">
            <a:solidFill>
              <a:srgbClr val="EA4B71">
                <a:alpha val="5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881" y="3673145"/>
            <a:ext cx="416966" cy="416966"/>
          </a:xfrm>
          <a:prstGeom prst="rect">
            <a:avLst/>
          </a:prstGeom>
        </p:spPr>
      </p:pic>
      <p:sp>
        <p:nvSpPr>
          <p:cNvPr id="17" name="Text 12">
            <a:hlinkClick r:id="rId6" tooltip=""/>
          </p:cNvPr>
          <p:cNvSpPr/>
          <p:nvPr/>
        </p:nvSpPr>
        <p:spPr>
          <a:xfrm>
            <a:off x="4764024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 Execution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764024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cascade fires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3991356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65592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45820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B5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458200" y="3447288"/>
            <a:ext cx="868680" cy="868680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057" y="3673145"/>
            <a:ext cx="416966" cy="416966"/>
          </a:xfrm>
          <a:prstGeom prst="rect">
            <a:avLst/>
          </a:prstGeom>
        </p:spPr>
      </p:pic>
      <p:sp>
        <p:nvSpPr>
          <p:cNvPr id="24" name="Text 17">
            <a:hlinkClick r:id="rId9" tooltip=""/>
          </p:cNvPr>
          <p:cNvSpPr/>
          <p:nvPr/>
        </p:nvSpPr>
        <p:spPr>
          <a:xfrm>
            <a:off x="8458200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 + Inbox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845820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Project, tasks, email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Open the linked screens in the speaker notes, in order, as you go.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841602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841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 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Offboarding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every engagement cleanly — and never forget the testimonial.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779776"/>
            <a:ext cx="603504" cy="603504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23" y="2936687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the client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64208" y="29992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moves to Alumni so your pipeline stays accurate.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82512" y="2468880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38544" y="2779776"/>
            <a:ext cx="603504" cy="603504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455" y="2936687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project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406640" y="29992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is marked Complete and flagged Offboarded.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822192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133088"/>
            <a:ext cx="603504" cy="603504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5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428999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64208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thank you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64208" y="43525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wrap-up email thanks the client and invites a referral.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82512" y="3822192"/>
            <a:ext cx="5166360" cy="1207008"/>
          </a:xfrm>
          <a:prstGeom prst="roundRect">
            <a:avLst>
              <a:gd name="adj" fmla="val 7576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38544" y="4133088"/>
            <a:ext cx="603504" cy="603504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5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455" y="4289999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06640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value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406640" y="43525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Testimonial-request and asset-archival tasks are auto-created.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8756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4406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closes itself — relationships end warm, and nothing slips through the cracks.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733702" cy="365760"/>
          </a:xfrm>
          <a:prstGeom prst="roundRect">
            <a:avLst>
              <a:gd name="adj" fmla="val 50000"/>
            </a:avLst>
          </a:prstGeom>
          <a:solidFill>
            <a:srgbClr val="EA4B71">
              <a:alpha val="12000"/>
            </a:srgbClr>
          </a:solidFill>
          <a:ln w="12700">
            <a:solidFill>
              <a:srgbClr val="EA4B71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 in one click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up a client retires them, closes the project, and queues the testimonial.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9848" y="3447288"/>
            <a:ext cx="868680" cy="86868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05" y="3673145"/>
            <a:ext cx="416966" cy="416966"/>
          </a:xfrm>
          <a:prstGeom prst="rect">
            <a:avLst/>
          </a:prstGeom>
        </p:spPr>
      </p:pic>
      <p:sp>
        <p:nvSpPr>
          <p:cNvPr id="10" name="Text 7">
            <a:hlinkClick r:id="rId3" tooltip=""/>
          </p:cNvPr>
          <p:cNvSpPr/>
          <p:nvPr/>
        </p:nvSpPr>
        <p:spPr>
          <a:xfrm>
            <a:off x="1069848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 CRM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69848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Offboard Client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991356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714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6402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64024" y="3447288"/>
            <a:ext cx="868680" cy="868680"/>
          </a:xfrm>
          <a:prstGeom prst="ellipse">
            <a:avLst/>
          </a:prstGeom>
          <a:solidFill>
            <a:srgbClr val="EA4B71">
              <a:alpha val="18000"/>
            </a:srgbClr>
          </a:solidFill>
          <a:ln w="12700">
            <a:solidFill>
              <a:srgbClr val="EA4B71">
                <a:alpha val="5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881" y="3673145"/>
            <a:ext cx="416966" cy="416966"/>
          </a:xfrm>
          <a:prstGeom prst="rect">
            <a:avLst/>
          </a:prstGeom>
        </p:spPr>
      </p:pic>
      <p:sp>
        <p:nvSpPr>
          <p:cNvPr id="17" name="Text 12">
            <a:hlinkClick r:id="rId6" tooltip=""/>
          </p:cNvPr>
          <p:cNvSpPr/>
          <p:nvPr/>
        </p:nvSpPr>
        <p:spPr>
          <a:xfrm>
            <a:off x="4764024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 Execution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764024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wrap-up runs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3991356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65592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45820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B5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458200" y="3447288"/>
            <a:ext cx="868680" cy="868680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057" y="3673145"/>
            <a:ext cx="416966" cy="416966"/>
          </a:xfrm>
          <a:prstGeom prst="rect">
            <a:avLst/>
          </a:prstGeom>
        </p:spPr>
      </p:pic>
      <p:sp>
        <p:nvSpPr>
          <p:cNvPr id="24" name="Text 17">
            <a:hlinkClick r:id="rId9" tooltip=""/>
          </p:cNvPr>
          <p:cNvSpPr/>
          <p:nvPr/>
        </p:nvSpPr>
        <p:spPr>
          <a:xfrm>
            <a:off x="8458200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845820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+ complete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Open the linked screens in the speaker notes, in order, as you go.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460090" cy="365760"/>
          </a:xfrm>
          <a:prstGeom prst="roundRect">
            <a:avLst>
              <a:gd name="adj" fmla="val 50000"/>
            </a:avLst>
          </a:prstGeom>
          <a:solidFill>
            <a:srgbClr val="FFD166">
              <a:alpha val="12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3460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DEMO · IF WE HAVE TIME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a Discord bot in 3 nodes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live on stage — a schedule, a live API, and an auto-post to Discord. No OAuth, nothing to hang.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9848" y="3447288"/>
            <a:ext cx="868680" cy="86868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5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05" y="3673145"/>
            <a:ext cx="416966" cy="416966"/>
          </a:xfrm>
          <a:prstGeom prst="rect">
            <a:avLst/>
          </a:prstGeom>
        </p:spPr>
      </p:pic>
      <p:sp>
        <p:nvSpPr>
          <p:cNvPr id="10" name="Text 7">
            <a:hlinkClick r:id="rId3" tooltip=""/>
          </p:cNvPr>
          <p:cNvSpPr/>
          <p:nvPr/>
        </p:nvSpPr>
        <p:spPr>
          <a:xfrm>
            <a:off x="1069848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Schedule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69848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30 seconds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991356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714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64024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64024" y="3447288"/>
            <a:ext cx="868680" cy="868680"/>
          </a:xfrm>
          <a:prstGeom prst="ellipse">
            <a:avLst/>
          </a:prstGeom>
          <a:solidFill>
            <a:srgbClr val="EA4B71">
              <a:alpha val="18000"/>
            </a:srgbClr>
          </a:solidFill>
          <a:ln w="12700">
            <a:solidFill>
              <a:srgbClr val="EA4B71">
                <a:alpha val="5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881" y="3673145"/>
            <a:ext cx="416966" cy="416966"/>
          </a:xfrm>
          <a:prstGeom prst="rect">
            <a:avLst/>
          </a:prstGeom>
        </p:spPr>
      </p:pic>
      <p:sp>
        <p:nvSpPr>
          <p:cNvPr id="17" name="Text 12">
            <a:hlinkClick r:id="rId6" tooltip=""/>
          </p:cNvPr>
          <p:cNvSpPr/>
          <p:nvPr/>
        </p:nvSpPr>
        <p:spPr>
          <a:xfrm>
            <a:off x="4764024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GET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764024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a live API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3991356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65592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0D1829"/>
          </a:solidFill>
          <a:ln w="12700">
            <a:solidFill>
              <a:srgbClr val="1A2A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45820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B5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458200" y="3447288"/>
            <a:ext cx="868680" cy="868680"/>
          </a:xfrm>
          <a:prstGeom prst="ellipse">
            <a:avLst/>
          </a:prstGeom>
          <a:solidFill>
            <a:srgbClr val="7B5EF8">
              <a:alpha val="18000"/>
            </a:srgbClr>
          </a:solidFill>
          <a:ln w="12700">
            <a:solidFill>
              <a:srgbClr val="7B5EF8">
                <a:alpha val="55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057" y="3673145"/>
            <a:ext cx="416966" cy="4169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58200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POST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8458200" y="4937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Auto-post to Discord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Open the linked screens in the speaker notes, in order, as you go.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625803" cy="365760"/>
          </a:xfrm>
          <a:prstGeom prst="roundRect">
            <a:avLst>
              <a:gd name="adj" fmla="val 50000"/>
            </a:avLst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625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THE KIT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3504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whole system home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Notion template, the n8n workflows,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step-by-step setup guide, and the prompt library.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joshobrien77.github.io/AutomationKIT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Josh O'Brien  ·  Startup Vegas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0" y="141732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qr_la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783080"/>
            <a:ext cx="2560320" cy="2560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80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4983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to the live landing page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Business Automation</dc:title>
  <dc:subject>PptxGenJS Presentation</dc:subject>
  <dc:creator>Josh O'Brien</dc:creator>
  <cp:lastModifiedBy>Josh O'Brien</cp:lastModifiedBy>
  <cp:revision>1</cp:revision>
  <dcterms:created xsi:type="dcterms:W3CDTF">2026-06-24T07:02:44Z</dcterms:created>
  <dcterms:modified xsi:type="dcterms:W3CDTF">2026-06-24T07:02:44Z</dcterms:modified>
</cp:coreProperties>
</file>